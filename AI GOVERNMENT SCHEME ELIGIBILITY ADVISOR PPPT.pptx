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myscheme.gov.in/?utm_source=chatgpt.com" TargetMode="External"/><Relationship Id="rId7" Type="http://schemas.openxmlformats.org/officeDocument/2006/relationships/hyperlink" Target="https://platform.openai.com/docs/?utm_source=chatgpt.com" TargetMode="External"/><Relationship Id="rId2" Type="http://schemas.openxmlformats.org/officeDocument/2006/relationships/hyperlink" Target="https://www.india.gov.in/?utm_source=chatgpt.com" TargetMode="External"/><Relationship Id="rId1" Type="http://schemas.openxmlformats.org/officeDocument/2006/relationships/slideLayout" Target="../slideLayouts/slideLayout7.xml"/><Relationship Id="rId6" Type="http://schemas.openxmlformats.org/officeDocument/2006/relationships/hyperlink" Target="https://web.umang.gov.in/?utm_source=chatgpt.com" TargetMode="External"/><Relationship Id="rId5" Type="http://schemas.openxmlformats.org/officeDocument/2006/relationships/hyperlink" Target="https://www.meity.gov.in/?utm_source=chatgpt.com" TargetMode="External"/><Relationship Id="rId4" Type="http://schemas.openxmlformats.org/officeDocument/2006/relationships/hyperlink" Target="https://www.digitalindia.gov.in/?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Rajalakshmi_College_Logo.png"/>
          <p:cNvPicPr>
            <a:picLocks noChangeAspect="1"/>
          </p:cNvPicPr>
          <p:nvPr/>
        </p:nvPicPr>
        <p:blipFill>
          <a:blip r:embed="rId2"/>
          <a:stretch>
            <a:fillRect/>
          </a:stretch>
        </p:blipFill>
        <p:spPr>
          <a:xfrm>
            <a:off x="731520" y="502920"/>
            <a:ext cx="2148840" cy="876066"/>
          </a:xfrm>
          <a:prstGeom prst="rect">
            <a:avLst/>
          </a:prstGeom>
        </p:spPr>
      </p:pic>
      <p:sp>
        <p:nvSpPr>
          <p:cNvPr id="4" name="TextBox 3"/>
          <p:cNvSpPr txBox="1"/>
          <p:nvPr/>
        </p:nvSpPr>
        <p:spPr>
          <a:xfrm>
            <a:off x="731520" y="1828800"/>
            <a:ext cx="9134617" cy="969496"/>
          </a:xfrm>
          <a:prstGeom prst="rect">
            <a:avLst/>
          </a:prstGeom>
          <a:noFill/>
        </p:spPr>
        <p:txBody>
          <a:bodyPr wrap="none">
            <a:spAutoFit/>
          </a:bodyPr>
          <a:lstStyle/>
          <a:p>
            <a:pPr>
              <a:defRPr sz="4200" b="1">
                <a:solidFill>
                  <a:srgbClr val="672D96"/>
                </a:solidFill>
                <a:latin typeface="Aptos Display"/>
              </a:defRPr>
            </a:pPr>
            <a:r>
              <a:rPr lang="en-US" sz="4200" b="1" dirty="0">
                <a:solidFill>
                  <a:srgbClr val="672D96"/>
                </a:solidFill>
                <a:latin typeface="Aptos Display"/>
              </a:rPr>
              <a:t>AI GOVERNMENT SCHEME ELIGIBILITY</a:t>
            </a:r>
            <a:endParaRPr lang="en-US" dirty="0"/>
          </a:p>
          <a:p>
            <a:pPr>
              <a:defRPr sz="1500">
                <a:solidFill>
                  <a:srgbClr val="5F5F69"/>
                </a:solidFill>
                <a:latin typeface="Aptos"/>
              </a:defRPr>
            </a:pPr>
            <a:r>
              <a:rPr dirty="0"/>
              <a:t>Foundations of Artificial Intelligence – Project Presentation</a:t>
            </a:r>
          </a:p>
        </p:txBody>
      </p:sp>
      <p:sp>
        <p:nvSpPr>
          <p:cNvPr id="5" name="TextBox 4"/>
          <p:cNvSpPr txBox="1"/>
          <p:nvPr/>
        </p:nvSpPr>
        <p:spPr>
          <a:xfrm>
            <a:off x="777240" y="3886200"/>
            <a:ext cx="4540987" cy="636072"/>
          </a:xfrm>
          <a:prstGeom prst="rect">
            <a:avLst/>
          </a:prstGeom>
          <a:noFill/>
        </p:spPr>
        <p:txBody>
          <a:bodyPr wrap="none">
            <a:spAutoFit/>
          </a:bodyPr>
          <a:lstStyle/>
          <a:p>
            <a:pPr>
              <a:spcAft>
                <a:spcPts val="700"/>
              </a:spcAft>
              <a:defRPr sz="1700" b="1">
                <a:solidFill>
                  <a:srgbClr val="262630"/>
                </a:solidFill>
                <a:latin typeface="Aptos"/>
              </a:defRPr>
            </a:pPr>
            <a:r>
              <a:rPr lang="en-US" dirty="0"/>
              <a:t>JATHIN CHOWDARY C H (240701209)</a:t>
            </a:r>
            <a:endParaRPr dirty="0"/>
          </a:p>
          <a:p>
            <a:pPr>
              <a:spcAft>
                <a:spcPts val="700"/>
              </a:spcAft>
              <a:defRPr sz="1250" b="0">
                <a:solidFill>
                  <a:srgbClr val="262630"/>
                </a:solidFill>
                <a:latin typeface="Aptos"/>
              </a:defRPr>
            </a:pPr>
            <a:r>
              <a:rPr dirty="0"/>
              <a:t>Guided by </a:t>
            </a:r>
            <a:r>
              <a:rPr dirty="0" err="1"/>
              <a:t>Mrs</a:t>
            </a:r>
            <a:r>
              <a:rPr dirty="0"/>
              <a:t> B. Deepa | Assistant Professor (SG) | Dept of CSE</a:t>
            </a:r>
          </a:p>
        </p:txBody>
      </p:sp>
      <p:sp>
        <p:nvSpPr>
          <p:cNvPr id="6" name="Rectangle 5"/>
          <p:cNvSpPr/>
          <p:nvPr/>
        </p:nvSpPr>
        <p:spPr>
          <a:xfrm>
            <a:off x="0" y="6537960"/>
            <a:ext cx="12191695" cy="320040"/>
          </a:xfrm>
          <a:prstGeom prst="rect">
            <a:avLst/>
          </a:prstGeom>
          <a:solidFill>
            <a:srgbClr val="672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65392"/>
            <a:ext cx="10972800" cy="164592"/>
          </a:xfrm>
          <a:prstGeom prst="rect">
            <a:avLst/>
          </a:prstGeom>
          <a:noFill/>
        </p:spPr>
        <p:txBody>
          <a:bodyPr wrap="none">
            <a:spAutoFit/>
          </a:bodyPr>
          <a:lstStyle/>
          <a:p>
            <a:pPr>
              <a:defRPr sz="850">
                <a:solidFill>
                  <a:srgbClr val="FFFFFF"/>
                </a:solidFill>
                <a:latin typeface="Aptos"/>
              </a:defRPr>
            </a:pPr>
            <a:r>
              <a:t>StudyForge AI  |  Foundations of Artificial Intelligence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548640"/>
          </a:xfrm>
          <a:prstGeom prst="rect">
            <a:avLst/>
          </a:prstGeom>
          <a:noFill/>
        </p:spPr>
        <p:txBody>
          <a:bodyPr wrap="none">
            <a:spAutoFit/>
          </a:bodyPr>
          <a:lstStyle/>
          <a:p>
            <a:pPr>
              <a:defRPr sz="2700" b="1">
                <a:solidFill>
                  <a:srgbClr val="672D96"/>
                </a:solidFill>
                <a:latin typeface="Aptos Display"/>
              </a:defRPr>
            </a:pPr>
            <a:r>
              <a:rPr dirty="0"/>
              <a:t>Problem Statement &amp; Objectives</a:t>
            </a:r>
          </a:p>
        </p:txBody>
      </p:sp>
      <p:sp>
        <p:nvSpPr>
          <p:cNvPr id="4" name="TextBox 3"/>
          <p:cNvSpPr txBox="1"/>
          <p:nvPr/>
        </p:nvSpPr>
        <p:spPr>
          <a:xfrm>
            <a:off x="731520" y="1325880"/>
            <a:ext cx="10698480" cy="3754874"/>
          </a:xfrm>
          <a:prstGeom prst="rect">
            <a:avLst/>
          </a:prstGeom>
          <a:noFill/>
        </p:spPr>
        <p:txBody>
          <a:bodyPr wrap="square">
            <a:spAutoFit/>
          </a:bodyPr>
          <a:lstStyle/>
          <a:p>
            <a:pPr lvl="0"/>
            <a:r>
              <a:rPr lang="en-IN" sz="2000" dirty="0"/>
              <a:t>Develop an AI-powered system to recommend suitable government schemes based on citizens’ profiles and eligibility criteria.</a:t>
            </a:r>
          </a:p>
          <a:p>
            <a:pPr lvl="0"/>
            <a:r>
              <a:rPr lang="en-IN" sz="2000" dirty="0"/>
              <a:t>Simplify eligibility checking using details such as age, income, occupation, location, and social category, where relevant.</a:t>
            </a:r>
          </a:p>
          <a:p>
            <a:pPr lvl="0"/>
            <a:r>
              <a:rPr lang="en-IN" sz="2000" dirty="0"/>
              <a:t>Provide clear information about scheme benefits, eligibility requirements, required documents, and application procedures.</a:t>
            </a:r>
          </a:p>
          <a:p>
            <a:pPr lvl="0"/>
            <a:r>
              <a:rPr lang="en-IN" sz="2000" dirty="0"/>
              <a:t>Reduce the time and effort required to search for relevant government schemes.</a:t>
            </a:r>
          </a:p>
          <a:p>
            <a:pPr lvl="0"/>
            <a:r>
              <a:rPr lang="en-IN" sz="2000" dirty="0"/>
              <a:t>Integrate reliable government scheme information through cloud-based functionality while supporting a local demonstration or fallback mode.</a:t>
            </a:r>
          </a:p>
          <a:p>
            <a:pPr lvl="0"/>
            <a:r>
              <a:rPr lang="en-IN" sz="2000" dirty="0"/>
              <a:t>Provide a user-friendly, responsive interface that improves awareness and access to government welfare schemes.</a:t>
            </a:r>
          </a:p>
          <a:p>
            <a:pPr>
              <a:spcAft>
                <a:spcPts val="1000"/>
              </a:spcAft>
              <a:defRPr sz="1800">
                <a:solidFill>
                  <a:srgbClr val="262630"/>
                </a:solidFill>
                <a:latin typeface="Aptos"/>
              </a:defRPr>
            </a:pPr>
            <a:endParaRPr dirty="0"/>
          </a:p>
        </p:txBody>
      </p:sp>
      <p:sp>
        <p:nvSpPr>
          <p:cNvPr id="5" name="Rectangle 4"/>
          <p:cNvSpPr/>
          <p:nvPr/>
        </p:nvSpPr>
        <p:spPr>
          <a:xfrm>
            <a:off x="0" y="6537960"/>
            <a:ext cx="12191695" cy="320040"/>
          </a:xfrm>
          <a:prstGeom prst="rect">
            <a:avLst/>
          </a:prstGeom>
          <a:solidFill>
            <a:srgbClr val="672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65392"/>
            <a:ext cx="10972800" cy="164592"/>
          </a:xfrm>
          <a:prstGeom prst="rect">
            <a:avLst/>
          </a:prstGeom>
          <a:noFill/>
        </p:spPr>
        <p:txBody>
          <a:bodyPr wrap="none">
            <a:spAutoFit/>
          </a:bodyPr>
          <a:lstStyle/>
          <a:p>
            <a:pPr>
              <a:defRPr sz="850">
                <a:solidFill>
                  <a:srgbClr val="FFFFFF"/>
                </a:solidFill>
                <a:latin typeface="Aptos"/>
              </a:defRPr>
            </a:pPr>
            <a:r>
              <a:t>StudyForge AI  |  Foundations of Artificial Intelligence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548640"/>
          </a:xfrm>
          <a:prstGeom prst="rect">
            <a:avLst/>
          </a:prstGeom>
          <a:noFill/>
        </p:spPr>
        <p:txBody>
          <a:bodyPr wrap="none">
            <a:spAutoFit/>
          </a:bodyPr>
          <a:lstStyle/>
          <a:p>
            <a:pPr>
              <a:defRPr sz="2700" b="1">
                <a:solidFill>
                  <a:srgbClr val="672D96"/>
                </a:solidFill>
                <a:latin typeface="Aptos Display"/>
              </a:defRPr>
            </a:pPr>
            <a:r>
              <a:t>Proposed System &amp; Technology Stack</a:t>
            </a:r>
          </a:p>
        </p:txBody>
      </p:sp>
      <p:sp>
        <p:nvSpPr>
          <p:cNvPr id="4" name="Rounded Rectangle 3"/>
          <p:cNvSpPr/>
          <p:nvPr/>
        </p:nvSpPr>
        <p:spPr>
          <a:xfrm>
            <a:off x="685800" y="1325880"/>
            <a:ext cx="5212080" cy="4846320"/>
          </a:xfrm>
          <a:prstGeom prst="roundRect">
            <a:avLst/>
          </a:prstGeom>
          <a:solidFill>
            <a:srgbClr val="F7F5FA"/>
          </a:solidFill>
          <a:ln>
            <a:solidFill>
              <a:srgbClr val="9E65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72768"/>
            <a:ext cx="4663440" cy="365760"/>
          </a:xfrm>
          <a:prstGeom prst="rect">
            <a:avLst/>
          </a:prstGeom>
          <a:noFill/>
        </p:spPr>
        <p:txBody>
          <a:bodyPr wrap="none">
            <a:spAutoFit/>
          </a:bodyPr>
          <a:lstStyle/>
          <a:p>
            <a:pPr>
              <a:defRPr sz="2000" b="1">
                <a:solidFill>
                  <a:srgbClr val="672D96"/>
                </a:solidFill>
                <a:latin typeface="Aptos"/>
              </a:defRPr>
            </a:pPr>
            <a:r>
              <a:t>Proposed System</a:t>
            </a:r>
          </a:p>
        </p:txBody>
      </p:sp>
      <p:sp>
        <p:nvSpPr>
          <p:cNvPr id="6" name="TextBox 5"/>
          <p:cNvSpPr txBox="1"/>
          <p:nvPr/>
        </p:nvSpPr>
        <p:spPr>
          <a:xfrm>
            <a:off x="941832" y="2057400"/>
            <a:ext cx="4617720" cy="3749039"/>
          </a:xfrm>
          <a:prstGeom prst="rect">
            <a:avLst/>
          </a:prstGeom>
          <a:noFill/>
        </p:spPr>
        <p:txBody>
          <a:bodyPr wrap="square">
            <a:spAutoFit/>
          </a:bodyPr>
          <a:lstStyle/>
          <a:p>
            <a:pPr>
              <a:spcAft>
                <a:spcPts val="1000"/>
              </a:spcAft>
              <a:defRPr sz="1600">
                <a:solidFill>
                  <a:srgbClr val="262630"/>
                </a:solidFill>
                <a:latin typeface="Aptos"/>
              </a:defRPr>
            </a:pPr>
            <a:r>
              <a:rPr dirty="0"/>
              <a:t>Unified student dashboard</a:t>
            </a:r>
          </a:p>
          <a:p>
            <a:pPr>
              <a:spcAft>
                <a:spcPts val="1000"/>
              </a:spcAft>
              <a:defRPr sz="1600">
                <a:solidFill>
                  <a:srgbClr val="262630"/>
                </a:solidFill>
                <a:latin typeface="Aptos"/>
              </a:defRPr>
            </a:pPr>
            <a:r>
              <a:rPr dirty="0"/>
              <a:t>Study Library + Study Kit</a:t>
            </a:r>
          </a:p>
          <a:p>
            <a:pPr>
              <a:spcAft>
                <a:spcPts val="1000"/>
              </a:spcAft>
              <a:defRPr sz="1600">
                <a:solidFill>
                  <a:srgbClr val="262630"/>
                </a:solidFill>
                <a:latin typeface="Aptos"/>
              </a:defRPr>
            </a:pPr>
            <a:r>
              <a:rPr dirty="0"/>
              <a:t>Quiz + Flashcards + Progress</a:t>
            </a:r>
          </a:p>
          <a:p>
            <a:pPr>
              <a:spcAft>
                <a:spcPts val="1000"/>
              </a:spcAft>
              <a:defRPr sz="1600">
                <a:solidFill>
                  <a:srgbClr val="262630"/>
                </a:solidFill>
                <a:latin typeface="Aptos"/>
              </a:defRPr>
            </a:pPr>
            <a:r>
              <a:rPr dirty="0"/>
              <a:t>Planner + </a:t>
            </a:r>
            <a:r>
              <a:rPr dirty="0" err="1"/>
              <a:t>StudySync</a:t>
            </a:r>
            <a:endParaRPr dirty="0"/>
          </a:p>
          <a:p>
            <a:pPr>
              <a:spcAft>
                <a:spcPts val="1000"/>
              </a:spcAft>
              <a:defRPr sz="1600">
                <a:solidFill>
                  <a:srgbClr val="262630"/>
                </a:solidFill>
                <a:latin typeface="Aptos"/>
              </a:defRPr>
            </a:pPr>
            <a:r>
              <a:rPr dirty="0" err="1"/>
              <a:t>CodeLab</a:t>
            </a:r>
            <a:r>
              <a:rPr dirty="0"/>
              <a:t> programming practice</a:t>
            </a:r>
          </a:p>
        </p:txBody>
      </p:sp>
      <p:sp>
        <p:nvSpPr>
          <p:cNvPr id="7" name="Rounded Rectangle 6"/>
          <p:cNvSpPr/>
          <p:nvPr/>
        </p:nvSpPr>
        <p:spPr>
          <a:xfrm>
            <a:off x="6309360" y="1325880"/>
            <a:ext cx="5212080" cy="4846320"/>
          </a:xfrm>
          <a:prstGeom prst="roundRect">
            <a:avLst/>
          </a:prstGeom>
          <a:solidFill>
            <a:srgbClr val="F7F5FA"/>
          </a:solidFill>
          <a:ln>
            <a:solidFill>
              <a:srgbClr val="9E65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1572768"/>
            <a:ext cx="4663440" cy="365760"/>
          </a:xfrm>
          <a:prstGeom prst="rect">
            <a:avLst/>
          </a:prstGeom>
          <a:noFill/>
        </p:spPr>
        <p:txBody>
          <a:bodyPr wrap="none">
            <a:spAutoFit/>
          </a:bodyPr>
          <a:lstStyle/>
          <a:p>
            <a:pPr>
              <a:defRPr sz="2000" b="1">
                <a:solidFill>
                  <a:srgbClr val="672D96"/>
                </a:solidFill>
                <a:latin typeface="Aptos"/>
              </a:defRPr>
            </a:pPr>
            <a:r>
              <a:t>Technology Stack</a:t>
            </a:r>
          </a:p>
        </p:txBody>
      </p:sp>
      <p:sp>
        <p:nvSpPr>
          <p:cNvPr id="9" name="TextBox 8"/>
          <p:cNvSpPr txBox="1"/>
          <p:nvPr/>
        </p:nvSpPr>
        <p:spPr>
          <a:xfrm>
            <a:off x="6565392" y="2057400"/>
            <a:ext cx="4617720" cy="3749039"/>
          </a:xfrm>
          <a:prstGeom prst="rect">
            <a:avLst/>
          </a:prstGeom>
          <a:noFill/>
        </p:spPr>
        <p:txBody>
          <a:bodyPr wrap="square">
            <a:spAutoFit/>
          </a:bodyPr>
          <a:lstStyle/>
          <a:p>
            <a:pPr>
              <a:spcAft>
                <a:spcPts val="1000"/>
              </a:spcAft>
              <a:defRPr sz="1600">
                <a:solidFill>
                  <a:srgbClr val="262630"/>
                </a:solidFill>
                <a:latin typeface="Aptos"/>
              </a:defRPr>
            </a:pPr>
            <a:r>
              <a:t>React 18 + TypeScript + Vite</a:t>
            </a:r>
          </a:p>
          <a:p>
            <a:pPr>
              <a:spcAft>
                <a:spcPts val="1000"/>
              </a:spcAft>
              <a:defRPr sz="1600">
                <a:solidFill>
                  <a:srgbClr val="262630"/>
                </a:solidFill>
                <a:latin typeface="Aptos"/>
              </a:defRPr>
            </a:pPr>
            <a:r>
              <a:t>Node.js + Express</a:t>
            </a:r>
          </a:p>
          <a:p>
            <a:pPr>
              <a:spcAft>
                <a:spcPts val="1000"/>
              </a:spcAft>
              <a:defRPr sz="1600">
                <a:solidFill>
                  <a:srgbClr val="262630"/>
                </a:solidFill>
                <a:latin typeface="Aptos"/>
              </a:defRPr>
            </a:pPr>
            <a:r>
              <a:t>Supabase Auth + PostgreSQL</a:t>
            </a:r>
          </a:p>
          <a:p>
            <a:pPr>
              <a:spcAft>
                <a:spcPts val="1000"/>
              </a:spcAft>
              <a:defRPr sz="1600">
                <a:solidFill>
                  <a:srgbClr val="262630"/>
                </a:solidFill>
                <a:latin typeface="Aptos"/>
              </a:defRPr>
            </a:pPr>
            <a:r>
              <a:t>Groq API through protected backend</a:t>
            </a:r>
          </a:p>
          <a:p>
            <a:pPr>
              <a:spcAft>
                <a:spcPts val="1000"/>
              </a:spcAft>
              <a:defRPr sz="1600">
                <a:solidFill>
                  <a:srgbClr val="262630"/>
                </a:solidFill>
                <a:latin typeface="Aptos"/>
              </a:defRPr>
            </a:pPr>
            <a:r>
              <a:t>Wandbox compiler for CodeLab</a:t>
            </a:r>
          </a:p>
        </p:txBody>
      </p:sp>
      <p:sp>
        <p:nvSpPr>
          <p:cNvPr id="10" name="Rectangle 9"/>
          <p:cNvSpPr/>
          <p:nvPr/>
        </p:nvSpPr>
        <p:spPr>
          <a:xfrm>
            <a:off x="0" y="6537960"/>
            <a:ext cx="12191695" cy="320040"/>
          </a:xfrm>
          <a:prstGeom prst="rect">
            <a:avLst/>
          </a:prstGeom>
          <a:solidFill>
            <a:srgbClr val="672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6565392"/>
            <a:ext cx="10972800" cy="164592"/>
          </a:xfrm>
          <a:prstGeom prst="rect">
            <a:avLst/>
          </a:prstGeom>
          <a:noFill/>
        </p:spPr>
        <p:txBody>
          <a:bodyPr wrap="none">
            <a:spAutoFit/>
          </a:bodyPr>
          <a:lstStyle/>
          <a:p>
            <a:pPr>
              <a:defRPr sz="850">
                <a:solidFill>
                  <a:srgbClr val="FFFFFF"/>
                </a:solidFill>
                <a:latin typeface="Aptos"/>
              </a:defRPr>
            </a:pPr>
            <a:r>
              <a:t>StudyForge AI  |  Foundations of Artificial Intelligence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548640"/>
          </a:xfrm>
          <a:prstGeom prst="rect">
            <a:avLst/>
          </a:prstGeom>
          <a:noFill/>
        </p:spPr>
        <p:txBody>
          <a:bodyPr wrap="none">
            <a:spAutoFit/>
          </a:bodyPr>
          <a:lstStyle/>
          <a:p>
            <a:pPr>
              <a:defRPr sz="2700" b="1">
                <a:solidFill>
                  <a:srgbClr val="672D96"/>
                </a:solidFill>
                <a:latin typeface="Aptos Display"/>
              </a:defRPr>
            </a:pPr>
            <a:r>
              <a:t>Major Functional Modules</a:t>
            </a:r>
          </a:p>
        </p:txBody>
      </p:sp>
      <p:sp>
        <p:nvSpPr>
          <p:cNvPr id="4" name="Rounded Rectangle 3"/>
          <p:cNvSpPr/>
          <p:nvPr/>
        </p:nvSpPr>
        <p:spPr>
          <a:xfrm>
            <a:off x="640080" y="1234440"/>
            <a:ext cx="5166360" cy="1280160"/>
          </a:xfrm>
          <a:prstGeom prst="roundRect">
            <a:avLst/>
          </a:prstGeom>
          <a:solidFill>
            <a:srgbClr val="F7F5FA"/>
          </a:solidFill>
          <a:ln>
            <a:solidFill>
              <a:srgbClr val="9E65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362456"/>
            <a:ext cx="5136406" cy="723275"/>
          </a:xfrm>
          <a:prstGeom prst="rect">
            <a:avLst/>
          </a:prstGeom>
          <a:noFill/>
        </p:spPr>
        <p:txBody>
          <a:bodyPr wrap="none">
            <a:spAutoFit/>
          </a:bodyPr>
          <a:lstStyle/>
          <a:p>
            <a:pPr>
              <a:defRPr sz="1600" b="1">
                <a:solidFill>
                  <a:srgbClr val="672D96"/>
                </a:solidFill>
                <a:latin typeface="Aptos"/>
              </a:defRPr>
            </a:pPr>
            <a:r>
              <a:rPr lang="en-IN" sz="2000" b="1" dirty="0">
                <a:solidFill>
                  <a:srgbClr val="672D96"/>
                </a:solidFill>
                <a:latin typeface="Aptos"/>
              </a:rPr>
              <a:t>User Registration and Profile Management</a:t>
            </a:r>
            <a:r>
              <a:rPr lang="en-IN" sz="2000" dirty="0">
                <a:solidFill>
                  <a:srgbClr val="672D96"/>
                </a:solidFill>
                <a:latin typeface="Aptos"/>
              </a:rPr>
              <a:t> </a:t>
            </a:r>
          </a:p>
          <a:p>
            <a:pPr>
              <a:defRPr sz="1600" b="1">
                <a:solidFill>
                  <a:srgbClr val="672D96"/>
                </a:solidFill>
                <a:latin typeface="Aptos"/>
              </a:defRPr>
            </a:pPr>
            <a:r>
              <a:rPr lang="en-IN" sz="1050" dirty="0">
                <a:solidFill>
                  <a:srgbClr val="672D96"/>
                </a:solidFill>
                <a:latin typeface="Aptos"/>
              </a:rPr>
              <a:t>Manages user accounts and collects relevant details such as age,</a:t>
            </a:r>
          </a:p>
          <a:p>
            <a:pPr>
              <a:defRPr sz="1600" b="1">
                <a:solidFill>
                  <a:srgbClr val="672D96"/>
                </a:solidFill>
                <a:latin typeface="Aptos"/>
              </a:defRPr>
            </a:pPr>
            <a:r>
              <a:rPr lang="en-IN" sz="1050" dirty="0">
                <a:solidFill>
                  <a:srgbClr val="672D96"/>
                </a:solidFill>
                <a:latin typeface="Aptos"/>
              </a:rPr>
              <a:t> income, occupation, location, and other scheme-specific information.</a:t>
            </a:r>
            <a:endParaRPr sz="1050" dirty="0"/>
          </a:p>
        </p:txBody>
      </p:sp>
      <p:sp>
        <p:nvSpPr>
          <p:cNvPr id="6" name="Rounded Rectangle 5"/>
          <p:cNvSpPr/>
          <p:nvPr/>
        </p:nvSpPr>
        <p:spPr>
          <a:xfrm>
            <a:off x="6172200" y="1234440"/>
            <a:ext cx="5166360" cy="1280160"/>
          </a:xfrm>
          <a:prstGeom prst="roundRect">
            <a:avLst/>
          </a:prstGeom>
          <a:solidFill>
            <a:srgbClr val="F7F5FA"/>
          </a:solidFill>
          <a:ln>
            <a:solidFill>
              <a:srgbClr val="9E65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55080" y="1362456"/>
            <a:ext cx="3131114" cy="523220"/>
          </a:xfrm>
          <a:prstGeom prst="rect">
            <a:avLst/>
          </a:prstGeom>
          <a:noFill/>
        </p:spPr>
        <p:txBody>
          <a:bodyPr wrap="none">
            <a:spAutoFit/>
          </a:bodyPr>
          <a:lstStyle/>
          <a:p>
            <a:pPr>
              <a:defRPr sz="1600" b="1">
                <a:solidFill>
                  <a:srgbClr val="672D96"/>
                </a:solidFill>
                <a:latin typeface="Aptos"/>
              </a:defRPr>
            </a:pPr>
            <a:r>
              <a:rPr lang="en-IN" sz="1600" b="1" dirty="0">
                <a:solidFill>
                  <a:srgbClr val="672D96"/>
                </a:solidFill>
                <a:latin typeface="Aptos"/>
              </a:rPr>
              <a:t>Government Scheme Database</a:t>
            </a:r>
            <a:r>
              <a:rPr lang="en-IN" sz="1600" dirty="0">
                <a:solidFill>
                  <a:srgbClr val="672D96"/>
                </a:solidFill>
                <a:latin typeface="Aptos"/>
              </a:rPr>
              <a:t> </a:t>
            </a:r>
          </a:p>
          <a:p>
            <a:pPr>
              <a:defRPr sz="1600" b="1">
                <a:solidFill>
                  <a:srgbClr val="672D96"/>
                </a:solidFill>
                <a:latin typeface="Aptos"/>
              </a:defRPr>
            </a:pPr>
            <a:r>
              <a:rPr lang="en-IN" sz="1200" dirty="0">
                <a:solidFill>
                  <a:srgbClr val="672D96"/>
                </a:solidFill>
                <a:latin typeface="Aptos"/>
              </a:rPr>
              <a:t>Stores government scheme information</a:t>
            </a:r>
            <a:endParaRPr sz="1200" dirty="0"/>
          </a:p>
        </p:txBody>
      </p:sp>
      <p:sp>
        <p:nvSpPr>
          <p:cNvPr id="8" name="Rounded Rectangle 7"/>
          <p:cNvSpPr/>
          <p:nvPr/>
        </p:nvSpPr>
        <p:spPr>
          <a:xfrm>
            <a:off x="640080" y="2807208"/>
            <a:ext cx="5166360" cy="1280160"/>
          </a:xfrm>
          <a:prstGeom prst="roundRect">
            <a:avLst/>
          </a:prstGeom>
          <a:solidFill>
            <a:srgbClr val="F7F5FA"/>
          </a:solidFill>
          <a:ln>
            <a:solidFill>
              <a:srgbClr val="9E65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2935224"/>
            <a:ext cx="3120791" cy="677108"/>
          </a:xfrm>
          <a:prstGeom prst="rect">
            <a:avLst/>
          </a:prstGeom>
          <a:noFill/>
        </p:spPr>
        <p:txBody>
          <a:bodyPr wrap="none">
            <a:spAutoFit/>
          </a:bodyPr>
          <a:lstStyle/>
          <a:p>
            <a:pPr lvl="0"/>
            <a:r>
              <a:rPr lang="en-IN" sz="2000" b="1" dirty="0">
                <a:solidFill>
                  <a:srgbClr val="7030A0"/>
                </a:solidFill>
              </a:rPr>
              <a:t>AI-Based Eligibility Checker</a:t>
            </a:r>
            <a:r>
              <a:rPr lang="en-IN" sz="2000" dirty="0">
                <a:solidFill>
                  <a:srgbClr val="7030A0"/>
                </a:solidFill>
              </a:rPr>
              <a:t> </a:t>
            </a:r>
          </a:p>
          <a:p>
            <a:pPr lvl="0"/>
            <a:r>
              <a:rPr lang="en-IN" sz="1400" dirty="0">
                <a:solidFill>
                  <a:srgbClr val="7030A0"/>
                </a:solidFill>
              </a:rPr>
              <a:t>Checks eligibility for schemes</a:t>
            </a:r>
            <a:r>
              <a:rPr lang="en-IN" dirty="0"/>
              <a:t>.</a:t>
            </a:r>
          </a:p>
        </p:txBody>
      </p:sp>
      <p:sp>
        <p:nvSpPr>
          <p:cNvPr id="10" name="Rounded Rectangle 9"/>
          <p:cNvSpPr/>
          <p:nvPr/>
        </p:nvSpPr>
        <p:spPr>
          <a:xfrm>
            <a:off x="6172200" y="2807208"/>
            <a:ext cx="5166360" cy="1280160"/>
          </a:xfrm>
          <a:prstGeom prst="roundRect">
            <a:avLst/>
          </a:prstGeom>
          <a:solidFill>
            <a:srgbClr val="F7F5FA"/>
          </a:solidFill>
          <a:ln>
            <a:solidFill>
              <a:srgbClr val="9E65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2935224"/>
            <a:ext cx="3414717" cy="584775"/>
          </a:xfrm>
          <a:prstGeom prst="rect">
            <a:avLst/>
          </a:prstGeom>
          <a:noFill/>
        </p:spPr>
        <p:txBody>
          <a:bodyPr wrap="none">
            <a:spAutoFit/>
          </a:bodyPr>
          <a:lstStyle/>
          <a:p>
            <a:pPr>
              <a:defRPr sz="1600" b="1">
                <a:solidFill>
                  <a:srgbClr val="672D96"/>
                </a:solidFill>
                <a:latin typeface="Aptos"/>
              </a:defRPr>
            </a:pPr>
            <a:r>
              <a:rPr lang="en-IN" sz="2000" b="1" dirty="0">
                <a:solidFill>
                  <a:srgbClr val="672D96"/>
                </a:solidFill>
                <a:latin typeface="Aptos"/>
              </a:rPr>
              <a:t>Scheme Recommendations</a:t>
            </a:r>
          </a:p>
          <a:p>
            <a:pPr>
              <a:defRPr sz="1600" b="1">
                <a:solidFill>
                  <a:srgbClr val="672D96"/>
                </a:solidFill>
                <a:latin typeface="Aptos"/>
              </a:defRPr>
            </a:pPr>
            <a:r>
              <a:rPr lang="en-IN" sz="1200" dirty="0">
                <a:solidFill>
                  <a:srgbClr val="672D96"/>
                </a:solidFill>
                <a:latin typeface="Aptos"/>
              </a:rPr>
              <a:t>Suggests suitable government schemes</a:t>
            </a:r>
            <a:endParaRPr lang="en-IN" sz="1200" b="1" dirty="0">
              <a:solidFill>
                <a:srgbClr val="672D96"/>
              </a:solidFill>
              <a:latin typeface="Aptos"/>
            </a:endParaRPr>
          </a:p>
        </p:txBody>
      </p:sp>
      <p:sp>
        <p:nvSpPr>
          <p:cNvPr id="12" name="Rounded Rectangle 11"/>
          <p:cNvSpPr/>
          <p:nvPr/>
        </p:nvSpPr>
        <p:spPr>
          <a:xfrm>
            <a:off x="640080" y="4379976"/>
            <a:ext cx="5166360" cy="1280160"/>
          </a:xfrm>
          <a:prstGeom prst="roundRect">
            <a:avLst/>
          </a:prstGeom>
          <a:solidFill>
            <a:srgbClr val="F7F5FA"/>
          </a:solidFill>
          <a:ln>
            <a:solidFill>
              <a:srgbClr val="9E65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59" y="4490156"/>
            <a:ext cx="2925481" cy="677108"/>
          </a:xfrm>
          <a:prstGeom prst="rect">
            <a:avLst/>
          </a:prstGeom>
          <a:noFill/>
        </p:spPr>
        <p:txBody>
          <a:bodyPr wrap="none">
            <a:spAutoFit/>
          </a:bodyPr>
          <a:lstStyle/>
          <a:p>
            <a:pPr lvl="0"/>
            <a:r>
              <a:rPr lang="en-IN" sz="2000" b="1" dirty="0">
                <a:solidFill>
                  <a:srgbClr val="7030A0"/>
                </a:solidFill>
              </a:rPr>
              <a:t>Document Checklist</a:t>
            </a:r>
            <a:r>
              <a:rPr lang="en-IN" sz="2000" dirty="0">
                <a:solidFill>
                  <a:srgbClr val="7030A0"/>
                </a:solidFill>
              </a:rPr>
              <a:t> </a:t>
            </a:r>
          </a:p>
          <a:p>
            <a:pPr lvl="0"/>
            <a:r>
              <a:rPr lang="en-IN" dirty="0">
                <a:solidFill>
                  <a:srgbClr val="7030A0"/>
                </a:solidFill>
              </a:rPr>
              <a:t> </a:t>
            </a:r>
            <a:r>
              <a:rPr lang="en-IN" sz="1400" dirty="0">
                <a:solidFill>
                  <a:srgbClr val="7030A0"/>
                </a:solidFill>
              </a:rPr>
              <a:t>Lists required application documents</a:t>
            </a:r>
          </a:p>
        </p:txBody>
      </p:sp>
      <p:sp>
        <p:nvSpPr>
          <p:cNvPr id="14" name="Rounded Rectangle 13"/>
          <p:cNvSpPr/>
          <p:nvPr/>
        </p:nvSpPr>
        <p:spPr>
          <a:xfrm>
            <a:off x="6172200" y="4379976"/>
            <a:ext cx="5166360" cy="1280160"/>
          </a:xfrm>
          <a:prstGeom prst="roundRect">
            <a:avLst/>
          </a:prstGeom>
          <a:solidFill>
            <a:srgbClr val="F7F5FA"/>
          </a:solidFill>
          <a:ln>
            <a:solidFill>
              <a:srgbClr val="9E65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4536322"/>
            <a:ext cx="3227807" cy="646331"/>
          </a:xfrm>
          <a:prstGeom prst="rect">
            <a:avLst/>
          </a:prstGeom>
          <a:noFill/>
        </p:spPr>
        <p:txBody>
          <a:bodyPr wrap="none">
            <a:spAutoFit/>
          </a:bodyPr>
          <a:lstStyle/>
          <a:p>
            <a:pPr>
              <a:defRPr sz="1600" b="1">
                <a:solidFill>
                  <a:srgbClr val="672D96"/>
                </a:solidFill>
                <a:latin typeface="Aptos"/>
              </a:defRPr>
            </a:pPr>
            <a:r>
              <a:rPr lang="en-IN" sz="2000" b="1" dirty="0">
                <a:solidFill>
                  <a:srgbClr val="672D96"/>
                </a:solidFill>
                <a:latin typeface="Aptos"/>
              </a:rPr>
              <a:t>Admin Management</a:t>
            </a:r>
            <a:r>
              <a:rPr lang="en-IN" sz="2000" dirty="0">
                <a:solidFill>
                  <a:srgbClr val="672D96"/>
                </a:solidFill>
                <a:latin typeface="Aptos"/>
              </a:rPr>
              <a:t> </a:t>
            </a:r>
          </a:p>
          <a:p>
            <a:pPr>
              <a:defRPr sz="1600" b="1">
                <a:solidFill>
                  <a:srgbClr val="672D96"/>
                </a:solidFill>
                <a:latin typeface="Aptos"/>
              </a:defRPr>
            </a:pPr>
            <a:r>
              <a:rPr lang="en-IN" sz="1600" dirty="0">
                <a:solidFill>
                  <a:srgbClr val="672D96"/>
                </a:solidFill>
                <a:latin typeface="Aptos"/>
              </a:rPr>
              <a:t> </a:t>
            </a:r>
            <a:r>
              <a:rPr lang="en-IN" sz="1200" dirty="0">
                <a:solidFill>
                  <a:srgbClr val="672D96"/>
                </a:solidFill>
                <a:latin typeface="Aptos"/>
              </a:rPr>
              <a:t>Updates and manages scheme information</a:t>
            </a:r>
            <a:endParaRPr sz="1200" dirty="0"/>
          </a:p>
        </p:txBody>
      </p:sp>
      <p:sp>
        <p:nvSpPr>
          <p:cNvPr id="16" name="Rectangle 15"/>
          <p:cNvSpPr/>
          <p:nvPr/>
        </p:nvSpPr>
        <p:spPr>
          <a:xfrm>
            <a:off x="0" y="6537960"/>
            <a:ext cx="12191695" cy="320040"/>
          </a:xfrm>
          <a:prstGeom prst="rect">
            <a:avLst/>
          </a:prstGeom>
          <a:solidFill>
            <a:srgbClr val="672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6565392"/>
            <a:ext cx="10972800" cy="164592"/>
          </a:xfrm>
          <a:prstGeom prst="rect">
            <a:avLst/>
          </a:prstGeom>
          <a:noFill/>
        </p:spPr>
        <p:txBody>
          <a:bodyPr wrap="none">
            <a:spAutoFit/>
          </a:bodyPr>
          <a:lstStyle/>
          <a:p>
            <a:pPr>
              <a:defRPr sz="850">
                <a:solidFill>
                  <a:srgbClr val="FFFFFF"/>
                </a:solidFill>
                <a:latin typeface="Aptos"/>
              </a:defRPr>
            </a:pPr>
            <a:r>
              <a:t>StudyForge AI  |  Foundations of Artificial Intelligence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p:cNvPicPr>
            <a:picLocks noChangeAspect="1"/>
          </p:cNvPicPr>
          <p:nvPr/>
        </p:nvPicPr>
        <p:blipFill>
          <a:blip r:embed="rId2"/>
          <a:srcRect l="44386" t="33191" r="25727" b="40831"/>
          <a:stretch>
            <a:fillRect/>
          </a:stretch>
        </p:blipFill>
        <p:spPr>
          <a:xfrm>
            <a:off x="401012" y="128016"/>
            <a:ext cx="11178494" cy="5977816"/>
          </a:xfrm>
          <a:prstGeom prst="rect">
            <a:avLst/>
          </a:prstGeom>
        </p:spPr>
      </p:pic>
      <p:sp>
        <p:nvSpPr>
          <p:cNvPr id="4" name="Rectangle 3"/>
          <p:cNvSpPr/>
          <p:nvPr/>
        </p:nvSpPr>
        <p:spPr>
          <a:xfrm>
            <a:off x="0" y="6537960"/>
            <a:ext cx="12191695" cy="320040"/>
          </a:xfrm>
          <a:prstGeom prst="rect">
            <a:avLst/>
          </a:prstGeom>
          <a:solidFill>
            <a:srgbClr val="672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6565392"/>
            <a:ext cx="10972800" cy="164592"/>
          </a:xfrm>
          <a:prstGeom prst="rect">
            <a:avLst/>
          </a:prstGeom>
          <a:noFill/>
        </p:spPr>
        <p:txBody>
          <a:bodyPr wrap="none">
            <a:spAutoFit/>
          </a:bodyPr>
          <a:lstStyle/>
          <a:p>
            <a:pPr>
              <a:defRPr sz="850">
                <a:solidFill>
                  <a:srgbClr val="FFFFFF"/>
                </a:solidFill>
                <a:latin typeface="Aptos"/>
              </a:defRPr>
            </a:pPr>
            <a:r>
              <a:t>StudyForge AI  |  System Architecture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32"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548640"/>
          </a:xfrm>
          <a:prstGeom prst="rect">
            <a:avLst/>
          </a:prstGeom>
          <a:noFill/>
        </p:spPr>
        <p:txBody>
          <a:bodyPr wrap="none">
            <a:spAutoFit/>
          </a:bodyPr>
          <a:lstStyle/>
          <a:p>
            <a:pPr>
              <a:defRPr sz="2700" b="1">
                <a:solidFill>
                  <a:srgbClr val="672D96"/>
                </a:solidFill>
                <a:latin typeface="Aptos Display"/>
              </a:defRPr>
            </a:pPr>
            <a:r>
              <a:t>AI Integration &amp; Learning Workflow</a:t>
            </a:r>
          </a:p>
        </p:txBody>
      </p:sp>
      <p:sp>
        <p:nvSpPr>
          <p:cNvPr id="4" name="TextBox 3"/>
          <p:cNvSpPr txBox="1"/>
          <p:nvPr/>
        </p:nvSpPr>
        <p:spPr>
          <a:xfrm>
            <a:off x="741352" y="1325880"/>
            <a:ext cx="10698480" cy="4339650"/>
          </a:xfrm>
          <a:prstGeom prst="rect">
            <a:avLst/>
          </a:prstGeom>
          <a:noFill/>
        </p:spPr>
        <p:txBody>
          <a:bodyPr wrap="square">
            <a:spAutoFit/>
          </a:bodyPr>
          <a:lstStyle/>
          <a:p>
            <a:pPr lvl="0"/>
            <a:r>
              <a:rPr lang="en-IN" sz="2400" dirty="0"/>
              <a:t>Collects user details such as age, income, and occupation.</a:t>
            </a:r>
          </a:p>
          <a:p>
            <a:pPr lvl="0"/>
            <a:r>
              <a:rPr lang="en-IN" sz="2400" dirty="0"/>
              <a:t>Stores user profile information securely.</a:t>
            </a:r>
          </a:p>
          <a:p>
            <a:pPr lvl="0"/>
            <a:r>
              <a:rPr lang="en-IN" sz="2400" dirty="0"/>
              <a:t>Retrieves relevant government scheme data.</a:t>
            </a:r>
          </a:p>
          <a:p>
            <a:pPr lvl="0"/>
            <a:r>
              <a:rPr lang="en-IN" sz="2400" dirty="0" err="1"/>
              <a:t>Analyzes</a:t>
            </a:r>
            <a:r>
              <a:rPr lang="en-IN" sz="2400" dirty="0"/>
              <a:t> user details using AI.</a:t>
            </a:r>
          </a:p>
          <a:p>
            <a:pPr lvl="0"/>
            <a:r>
              <a:rPr lang="en-IN" sz="2400" dirty="0"/>
              <a:t>Matches profiles with scheme eligibility criteria.</a:t>
            </a:r>
          </a:p>
          <a:p>
            <a:pPr lvl="0"/>
            <a:r>
              <a:rPr lang="en-IN" sz="2400" dirty="0"/>
              <a:t>Identifies potentially eligible government schemes.</a:t>
            </a:r>
          </a:p>
          <a:p>
            <a:pPr lvl="0"/>
            <a:r>
              <a:rPr lang="en-IN" sz="2400" dirty="0"/>
              <a:t>Recommends suitable schemes to users.</a:t>
            </a:r>
          </a:p>
          <a:p>
            <a:pPr lvl="0"/>
            <a:r>
              <a:rPr lang="en-IN" sz="2400" dirty="0"/>
              <a:t>Explains scheme benefits and eligibility conditions.</a:t>
            </a:r>
          </a:p>
          <a:p>
            <a:pPr lvl="0"/>
            <a:r>
              <a:rPr lang="en-IN" sz="2400" dirty="0"/>
              <a:t>Provides required document lists and application links.</a:t>
            </a:r>
          </a:p>
          <a:p>
            <a:pPr lvl="0"/>
            <a:r>
              <a:rPr lang="en-IN" sz="2400" dirty="0"/>
              <a:t>Displays results through a user-friendly dashboard.</a:t>
            </a:r>
          </a:p>
          <a:p>
            <a:br>
              <a:rPr lang="en-IN" dirty="0"/>
            </a:br>
            <a:r>
              <a:rPr lang="en-IN" dirty="0"/>
              <a:t>C</a:t>
            </a:r>
            <a:endParaRPr dirty="0"/>
          </a:p>
        </p:txBody>
      </p:sp>
      <p:sp>
        <p:nvSpPr>
          <p:cNvPr id="5" name="Rectangle 4"/>
          <p:cNvSpPr/>
          <p:nvPr/>
        </p:nvSpPr>
        <p:spPr>
          <a:xfrm>
            <a:off x="0" y="6537960"/>
            <a:ext cx="12191695" cy="320040"/>
          </a:xfrm>
          <a:prstGeom prst="rect">
            <a:avLst/>
          </a:prstGeom>
          <a:solidFill>
            <a:srgbClr val="672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65392"/>
            <a:ext cx="10972800" cy="164592"/>
          </a:xfrm>
          <a:prstGeom prst="rect">
            <a:avLst/>
          </a:prstGeom>
          <a:noFill/>
        </p:spPr>
        <p:txBody>
          <a:bodyPr wrap="none">
            <a:spAutoFit/>
          </a:bodyPr>
          <a:lstStyle/>
          <a:p>
            <a:pPr>
              <a:defRPr sz="850">
                <a:solidFill>
                  <a:srgbClr val="FFFFFF"/>
                </a:solidFill>
                <a:latin typeface="Aptos"/>
              </a:defRPr>
            </a:pPr>
            <a:r>
              <a:t>StudyForge AI  |  Foundations of Artificial Intelligence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548640"/>
          </a:xfrm>
          <a:prstGeom prst="rect">
            <a:avLst/>
          </a:prstGeom>
          <a:noFill/>
        </p:spPr>
        <p:txBody>
          <a:bodyPr wrap="none">
            <a:spAutoFit/>
          </a:bodyPr>
          <a:lstStyle/>
          <a:p>
            <a:pPr>
              <a:defRPr sz="2700" b="1">
                <a:solidFill>
                  <a:srgbClr val="672D96"/>
                </a:solidFill>
                <a:latin typeface="Aptos Display"/>
              </a:defRPr>
            </a:pPr>
            <a:r>
              <a:t>Database, Security &amp; Implementation</a:t>
            </a:r>
          </a:p>
        </p:txBody>
      </p:sp>
      <p:sp>
        <p:nvSpPr>
          <p:cNvPr id="4" name="TextBox 3"/>
          <p:cNvSpPr txBox="1"/>
          <p:nvPr/>
        </p:nvSpPr>
        <p:spPr>
          <a:xfrm>
            <a:off x="731520" y="1325880"/>
            <a:ext cx="10698480" cy="2862322"/>
          </a:xfrm>
          <a:prstGeom prst="rect">
            <a:avLst/>
          </a:prstGeom>
          <a:noFill/>
        </p:spPr>
        <p:txBody>
          <a:bodyPr wrap="square">
            <a:spAutoFit/>
          </a:bodyPr>
          <a:lstStyle/>
          <a:p>
            <a:pPr>
              <a:spcAft>
                <a:spcPts val="1000"/>
              </a:spcAft>
              <a:defRPr sz="1700">
                <a:solidFill>
                  <a:srgbClr val="262630"/>
                </a:solidFill>
                <a:latin typeface="Aptos"/>
              </a:defRPr>
            </a:pPr>
            <a:r>
              <a:rPr lang="en-IN" sz="2000" dirty="0">
                <a:solidFill>
                  <a:srgbClr val="262630"/>
                </a:solidFill>
                <a:latin typeface="Aptos"/>
              </a:rPr>
              <a:t>The AI Government Scheme Eligibility Advisor uses a database to store user profiles, government scheme details, eligibility criteria, benefits, and application procedures. Security features such as user authentication, access control, data encryption, and input validation protect sensitive information. AI integration </a:t>
            </a:r>
            <a:r>
              <a:rPr lang="en-IN" sz="2000" dirty="0" err="1">
                <a:solidFill>
                  <a:srgbClr val="262630"/>
                </a:solidFill>
                <a:latin typeface="Aptos"/>
              </a:rPr>
              <a:t>analyzes</a:t>
            </a:r>
            <a:r>
              <a:rPr lang="en-IN" sz="2000" dirty="0">
                <a:solidFill>
                  <a:srgbClr val="262630"/>
                </a:solidFill>
                <a:latin typeface="Aptos"/>
              </a:rPr>
              <a:t> user details and matches them with suitable government schemes. The system provides personalized recommendations, required document checklists, and official application links. Implementation includes designing a user-friendly interface, connecting the database, integrating AI functionality, and testing the system. Regular maintenance and scheme updates help ensure accurate information, reliable performance, and improved access to government welfare benefits for eligible citizens.</a:t>
            </a:r>
            <a:endParaRPr sz="2000" dirty="0"/>
          </a:p>
        </p:txBody>
      </p:sp>
      <p:sp>
        <p:nvSpPr>
          <p:cNvPr id="5" name="Rectangle 4"/>
          <p:cNvSpPr/>
          <p:nvPr/>
        </p:nvSpPr>
        <p:spPr>
          <a:xfrm>
            <a:off x="0" y="6537960"/>
            <a:ext cx="12191695" cy="320040"/>
          </a:xfrm>
          <a:prstGeom prst="rect">
            <a:avLst/>
          </a:prstGeom>
          <a:solidFill>
            <a:srgbClr val="672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65392"/>
            <a:ext cx="10972800" cy="164592"/>
          </a:xfrm>
          <a:prstGeom prst="rect">
            <a:avLst/>
          </a:prstGeom>
          <a:noFill/>
        </p:spPr>
        <p:txBody>
          <a:bodyPr wrap="none">
            <a:spAutoFit/>
          </a:bodyPr>
          <a:lstStyle/>
          <a:p>
            <a:pPr>
              <a:defRPr sz="850">
                <a:solidFill>
                  <a:srgbClr val="FFFFFF"/>
                </a:solidFill>
                <a:latin typeface="Aptos"/>
              </a:defRPr>
            </a:pPr>
            <a:r>
              <a:t>StudyForge AI  |  Foundations of Artificial Intelligence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548640"/>
          </a:xfrm>
          <a:prstGeom prst="rect">
            <a:avLst/>
          </a:prstGeom>
          <a:noFill/>
        </p:spPr>
        <p:txBody>
          <a:bodyPr wrap="none">
            <a:spAutoFit/>
          </a:bodyPr>
          <a:lstStyle/>
          <a:p>
            <a:pPr>
              <a:defRPr sz="2700" b="1">
                <a:solidFill>
                  <a:srgbClr val="672D96"/>
                </a:solidFill>
                <a:latin typeface="Aptos Display"/>
              </a:defRPr>
            </a:pPr>
            <a:r>
              <a:t>Testing, Results &amp; Discussion</a:t>
            </a:r>
          </a:p>
        </p:txBody>
      </p:sp>
      <p:sp>
        <p:nvSpPr>
          <p:cNvPr id="4" name="TextBox 3"/>
          <p:cNvSpPr txBox="1"/>
          <p:nvPr/>
        </p:nvSpPr>
        <p:spPr>
          <a:xfrm>
            <a:off x="731520" y="1325880"/>
            <a:ext cx="10698480" cy="3170099"/>
          </a:xfrm>
          <a:prstGeom prst="rect">
            <a:avLst/>
          </a:prstGeom>
          <a:noFill/>
        </p:spPr>
        <p:txBody>
          <a:bodyPr wrap="square">
            <a:spAutoFit/>
          </a:bodyPr>
          <a:lstStyle/>
          <a:p>
            <a:pPr lvl="0"/>
            <a:r>
              <a:rPr lang="en-IN" sz="2000" dirty="0"/>
              <a:t>The AI Government Scheme Eligibility Advisor was tested to evaluate its functionality, accuracy, security, and usability. User registration, profile management, scheme searching, and eligibility checking were tested successfully. The AI recommendation module matched user details with relevant government scheme criteria and displayed suitable schemes. The system also provided scheme benefits, required documents, and application links. Input validation and authentication helped improve data security. Testing showed that the system could simplify scheme discovery, reduce manual searching, and improve user awareness of government benefits. However, recommendation accuracy depends on the availability and regular updating of scheme information.</a:t>
            </a:r>
          </a:p>
          <a:p>
            <a:br>
              <a:rPr lang="en-IN" sz="2000" dirty="0"/>
            </a:br>
            <a:endParaRPr sz="2000" dirty="0"/>
          </a:p>
        </p:txBody>
      </p:sp>
      <p:sp>
        <p:nvSpPr>
          <p:cNvPr id="5" name="Rectangle 4"/>
          <p:cNvSpPr/>
          <p:nvPr/>
        </p:nvSpPr>
        <p:spPr>
          <a:xfrm>
            <a:off x="0" y="6537960"/>
            <a:ext cx="12191695" cy="320040"/>
          </a:xfrm>
          <a:prstGeom prst="rect">
            <a:avLst/>
          </a:prstGeom>
          <a:solidFill>
            <a:srgbClr val="672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65392"/>
            <a:ext cx="10972800" cy="164592"/>
          </a:xfrm>
          <a:prstGeom prst="rect">
            <a:avLst/>
          </a:prstGeom>
          <a:noFill/>
        </p:spPr>
        <p:txBody>
          <a:bodyPr wrap="none">
            <a:spAutoFit/>
          </a:bodyPr>
          <a:lstStyle/>
          <a:p>
            <a:pPr>
              <a:defRPr sz="850">
                <a:solidFill>
                  <a:srgbClr val="FFFFFF"/>
                </a:solidFill>
                <a:latin typeface="Aptos"/>
              </a:defRPr>
            </a:pPr>
            <a:r>
              <a:t>StudyForge AI  |  Foundations of Artificial Intelligence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548640"/>
          </a:xfrm>
          <a:prstGeom prst="rect">
            <a:avLst/>
          </a:prstGeom>
          <a:noFill/>
        </p:spPr>
        <p:txBody>
          <a:bodyPr wrap="none">
            <a:spAutoFit/>
          </a:bodyPr>
          <a:lstStyle/>
          <a:p>
            <a:pPr>
              <a:defRPr sz="2700" b="1">
                <a:solidFill>
                  <a:srgbClr val="672D96"/>
                </a:solidFill>
                <a:latin typeface="Aptos Display"/>
              </a:defRPr>
            </a:pPr>
            <a:r>
              <a:t>Limitations &amp; Future Enhancements</a:t>
            </a:r>
          </a:p>
        </p:txBody>
      </p:sp>
      <p:sp>
        <p:nvSpPr>
          <p:cNvPr id="4" name="Rounded Rectangle 3"/>
          <p:cNvSpPr/>
          <p:nvPr/>
        </p:nvSpPr>
        <p:spPr>
          <a:xfrm>
            <a:off x="685800" y="1325880"/>
            <a:ext cx="5212080" cy="4846320"/>
          </a:xfrm>
          <a:prstGeom prst="roundRect">
            <a:avLst/>
          </a:prstGeom>
          <a:solidFill>
            <a:srgbClr val="F7F5FA"/>
          </a:solidFill>
          <a:ln>
            <a:solidFill>
              <a:srgbClr val="9E65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72768"/>
            <a:ext cx="4663440" cy="365760"/>
          </a:xfrm>
          <a:prstGeom prst="rect">
            <a:avLst/>
          </a:prstGeom>
          <a:noFill/>
        </p:spPr>
        <p:txBody>
          <a:bodyPr wrap="none">
            <a:spAutoFit/>
          </a:bodyPr>
          <a:lstStyle/>
          <a:p>
            <a:pPr>
              <a:defRPr sz="2000" b="1">
                <a:solidFill>
                  <a:srgbClr val="672D96"/>
                </a:solidFill>
                <a:latin typeface="Aptos"/>
              </a:defRPr>
            </a:pPr>
            <a:r>
              <a:t>Current Limitations</a:t>
            </a:r>
          </a:p>
        </p:txBody>
      </p:sp>
      <p:sp>
        <p:nvSpPr>
          <p:cNvPr id="6" name="TextBox 5"/>
          <p:cNvSpPr txBox="1"/>
          <p:nvPr/>
        </p:nvSpPr>
        <p:spPr>
          <a:xfrm>
            <a:off x="941832" y="2057400"/>
            <a:ext cx="4617720" cy="1477328"/>
          </a:xfrm>
          <a:prstGeom prst="rect">
            <a:avLst/>
          </a:prstGeom>
          <a:noFill/>
        </p:spPr>
        <p:txBody>
          <a:bodyPr wrap="square">
            <a:spAutoFit/>
          </a:bodyPr>
          <a:lstStyle/>
          <a:p>
            <a:r>
              <a:rPr lang="en-IN" dirty="0"/>
              <a:t>The system depends on updated scheme data and internet access. AI recommendations may not always be accurate, and real-time application tracking may be unavailable for certain government schemes.</a:t>
            </a:r>
          </a:p>
        </p:txBody>
      </p:sp>
      <p:sp>
        <p:nvSpPr>
          <p:cNvPr id="7" name="Rounded Rectangle 6"/>
          <p:cNvSpPr/>
          <p:nvPr/>
        </p:nvSpPr>
        <p:spPr>
          <a:xfrm>
            <a:off x="6309360" y="1325880"/>
            <a:ext cx="5212080" cy="4846320"/>
          </a:xfrm>
          <a:prstGeom prst="roundRect">
            <a:avLst/>
          </a:prstGeom>
          <a:solidFill>
            <a:srgbClr val="F7F5FA"/>
          </a:solidFill>
          <a:ln>
            <a:solidFill>
              <a:srgbClr val="9E65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1572768"/>
            <a:ext cx="4663440" cy="365760"/>
          </a:xfrm>
          <a:prstGeom prst="rect">
            <a:avLst/>
          </a:prstGeom>
          <a:noFill/>
        </p:spPr>
        <p:txBody>
          <a:bodyPr wrap="none">
            <a:spAutoFit/>
          </a:bodyPr>
          <a:lstStyle/>
          <a:p>
            <a:pPr>
              <a:defRPr sz="2000" b="1">
                <a:solidFill>
                  <a:srgbClr val="672D96"/>
                </a:solidFill>
                <a:latin typeface="Aptos"/>
              </a:defRPr>
            </a:pPr>
            <a:r>
              <a:t>Future Enhancements</a:t>
            </a:r>
          </a:p>
        </p:txBody>
      </p:sp>
      <p:sp>
        <p:nvSpPr>
          <p:cNvPr id="9" name="TextBox 8"/>
          <p:cNvSpPr txBox="1"/>
          <p:nvPr/>
        </p:nvSpPr>
        <p:spPr>
          <a:xfrm>
            <a:off x="6565392" y="2057400"/>
            <a:ext cx="4617720" cy="2862322"/>
          </a:xfrm>
          <a:prstGeom prst="rect">
            <a:avLst/>
          </a:prstGeom>
          <a:noFill/>
        </p:spPr>
        <p:txBody>
          <a:bodyPr wrap="square">
            <a:spAutoFit/>
          </a:bodyPr>
          <a:lstStyle/>
          <a:p>
            <a:pPr>
              <a:spcAft>
                <a:spcPts val="1000"/>
              </a:spcAft>
              <a:defRPr sz="1550">
                <a:solidFill>
                  <a:srgbClr val="262630"/>
                </a:solidFill>
                <a:latin typeface="Aptos"/>
              </a:defRPr>
            </a:pPr>
            <a:r>
              <a:rPr lang="en-IN" sz="2000" dirty="0">
                <a:solidFill>
                  <a:srgbClr val="262630"/>
                </a:solidFill>
                <a:latin typeface="Aptos"/>
              </a:rPr>
              <a:t>Future enhancements include multilingual support, improved AI accuracy, real-time scheme updates, mobile application development, automated document verification, personalized notifications, and integration with official government portals for better accessibility and user experience.</a:t>
            </a:r>
            <a:endParaRPr sz="2000" dirty="0"/>
          </a:p>
        </p:txBody>
      </p:sp>
      <p:sp>
        <p:nvSpPr>
          <p:cNvPr id="10" name="Rectangle 9"/>
          <p:cNvSpPr/>
          <p:nvPr/>
        </p:nvSpPr>
        <p:spPr>
          <a:xfrm>
            <a:off x="0" y="6537960"/>
            <a:ext cx="12191695" cy="320040"/>
          </a:xfrm>
          <a:prstGeom prst="rect">
            <a:avLst/>
          </a:prstGeom>
          <a:solidFill>
            <a:srgbClr val="672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6565392"/>
            <a:ext cx="10972800" cy="164592"/>
          </a:xfrm>
          <a:prstGeom prst="rect">
            <a:avLst/>
          </a:prstGeom>
          <a:noFill/>
        </p:spPr>
        <p:txBody>
          <a:bodyPr wrap="none">
            <a:spAutoFit/>
          </a:bodyPr>
          <a:lstStyle/>
          <a:p>
            <a:pPr>
              <a:defRPr sz="850">
                <a:solidFill>
                  <a:srgbClr val="FFFFFF"/>
                </a:solidFill>
                <a:latin typeface="Aptos"/>
              </a:defRPr>
            </a:pPr>
            <a:r>
              <a:t>StudyForge AI  |  Foundations of Artificial Intelligence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664" y="0"/>
            <a:ext cx="12191695" cy="6858000"/>
          </a:xfrm>
          <a:prstGeom prst="rect">
            <a:avLst/>
          </a:prstGeom>
          <a:solidFill>
            <a:srgbClr val="F7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548640"/>
          </a:xfrm>
          <a:prstGeom prst="rect">
            <a:avLst/>
          </a:prstGeom>
          <a:noFill/>
        </p:spPr>
        <p:txBody>
          <a:bodyPr wrap="none">
            <a:spAutoFit/>
          </a:bodyPr>
          <a:lstStyle/>
          <a:p>
            <a:pPr>
              <a:defRPr sz="2700" b="1">
                <a:solidFill>
                  <a:srgbClr val="672D96"/>
                </a:solidFill>
                <a:latin typeface="Aptos Display"/>
              </a:defRPr>
            </a:pPr>
            <a:r>
              <a:t>Conclusion &amp; References</a:t>
            </a:r>
          </a:p>
        </p:txBody>
      </p:sp>
      <p:sp>
        <p:nvSpPr>
          <p:cNvPr id="4" name="TextBox 3"/>
          <p:cNvSpPr txBox="1"/>
          <p:nvPr/>
        </p:nvSpPr>
        <p:spPr>
          <a:xfrm>
            <a:off x="731520" y="1325880"/>
            <a:ext cx="10698480" cy="3970318"/>
          </a:xfrm>
          <a:prstGeom prst="rect">
            <a:avLst/>
          </a:prstGeom>
          <a:noFill/>
        </p:spPr>
        <p:txBody>
          <a:bodyPr wrap="square">
            <a:spAutoFit/>
          </a:bodyPr>
          <a:lstStyle/>
          <a:p>
            <a:pPr lvl="0"/>
            <a:r>
              <a:rPr lang="en-IN" dirty="0"/>
              <a:t>The AI Government Scheme Eligibility Advisor helps users identify suitable government schemes based on their personal details and eligibility criteria. It simplifies scheme discovery by providing benefit information, required documents, and application guidance. The system improves awareness, saves time, and makes government welfare information more accessible. Future improvements can enhance accuracy, accessibility, and integration with official government services.</a:t>
            </a:r>
          </a:p>
          <a:p>
            <a:pPr lvl="0"/>
            <a:r>
              <a:rPr lang="en-IN" b="1" dirty="0"/>
              <a:t>References</a:t>
            </a:r>
          </a:p>
          <a:p>
            <a:pPr lvl="0"/>
            <a:r>
              <a:rPr lang="en-IN" dirty="0">
                <a:hlinkClick r:id="rId2"/>
              </a:rPr>
              <a:t>National Portal of India </a:t>
            </a:r>
            <a:r>
              <a:rPr lang="en-IN" dirty="0"/>
              <a:t> – Government schemes and services.</a:t>
            </a:r>
          </a:p>
          <a:p>
            <a:pPr lvl="0"/>
            <a:r>
              <a:rPr lang="en-IN" dirty="0" err="1">
                <a:hlinkClick r:id="rId3"/>
              </a:rPr>
              <a:t>myScheme</a:t>
            </a:r>
            <a:r>
              <a:rPr lang="en-IN" dirty="0">
                <a:hlinkClick r:id="rId3"/>
              </a:rPr>
              <a:t> Portal </a:t>
            </a:r>
            <a:r>
              <a:rPr lang="en-IN" dirty="0"/>
              <a:t> – Government scheme discovery and eligibility information.</a:t>
            </a:r>
          </a:p>
          <a:p>
            <a:pPr lvl="0"/>
            <a:r>
              <a:rPr lang="en-IN" dirty="0">
                <a:hlinkClick r:id="rId4"/>
              </a:rPr>
              <a:t>Digital India </a:t>
            </a:r>
            <a:r>
              <a:rPr lang="en-IN" dirty="0"/>
              <a:t> – Digital government initiatives.</a:t>
            </a:r>
          </a:p>
          <a:p>
            <a:pPr lvl="0"/>
            <a:r>
              <a:rPr lang="en-IN" dirty="0">
                <a:hlinkClick r:id="rId5"/>
              </a:rPr>
              <a:t>Ministry of Electronics and Information Technology </a:t>
            </a:r>
            <a:r>
              <a:rPr lang="en-IN" dirty="0"/>
              <a:t> – Digital governance and technology initiatives.</a:t>
            </a:r>
          </a:p>
          <a:p>
            <a:pPr lvl="0"/>
            <a:r>
              <a:rPr lang="en-IN" dirty="0">
                <a:hlinkClick r:id="rId6"/>
              </a:rPr>
              <a:t>UMANG Portal </a:t>
            </a:r>
            <a:r>
              <a:rPr lang="en-IN" dirty="0"/>
              <a:t> – Access to government services.</a:t>
            </a:r>
          </a:p>
          <a:p>
            <a:pPr lvl="0"/>
            <a:r>
              <a:rPr lang="en-IN" dirty="0">
                <a:hlinkClick r:id="rId7"/>
              </a:rPr>
              <a:t>OpenAI Documentation </a:t>
            </a:r>
            <a:r>
              <a:rPr lang="en-IN" dirty="0"/>
              <a:t> – AI integration and API development.</a:t>
            </a:r>
          </a:p>
          <a:p>
            <a:br>
              <a:rPr lang="en-IN" dirty="0"/>
            </a:br>
            <a:endParaRPr dirty="0"/>
          </a:p>
        </p:txBody>
      </p:sp>
      <p:sp>
        <p:nvSpPr>
          <p:cNvPr id="5" name="TextBox 4"/>
          <p:cNvSpPr txBox="1"/>
          <p:nvPr/>
        </p:nvSpPr>
        <p:spPr>
          <a:xfrm>
            <a:off x="777240" y="5257800"/>
            <a:ext cx="10515600" cy="731520"/>
          </a:xfrm>
          <a:prstGeom prst="rect">
            <a:avLst/>
          </a:prstGeom>
          <a:noFill/>
        </p:spPr>
        <p:txBody>
          <a:bodyPr wrap="none">
            <a:spAutoFit/>
          </a:bodyPr>
          <a:lstStyle/>
          <a:p>
            <a:pPr algn="ctr">
              <a:defRPr sz="2600" b="1">
                <a:solidFill>
                  <a:srgbClr val="672D96"/>
                </a:solidFill>
                <a:latin typeface="Aptos Display"/>
              </a:defRPr>
            </a:pPr>
            <a:r>
              <a:t>Thank You</a:t>
            </a:r>
          </a:p>
        </p:txBody>
      </p:sp>
      <p:sp>
        <p:nvSpPr>
          <p:cNvPr id="6" name="Rectangle 5"/>
          <p:cNvSpPr/>
          <p:nvPr/>
        </p:nvSpPr>
        <p:spPr>
          <a:xfrm>
            <a:off x="0" y="6537960"/>
            <a:ext cx="12191695" cy="320040"/>
          </a:xfrm>
          <a:prstGeom prst="rect">
            <a:avLst/>
          </a:prstGeom>
          <a:solidFill>
            <a:srgbClr val="672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65392"/>
            <a:ext cx="10972800" cy="164592"/>
          </a:xfrm>
          <a:prstGeom prst="rect">
            <a:avLst/>
          </a:prstGeom>
          <a:noFill/>
        </p:spPr>
        <p:txBody>
          <a:bodyPr wrap="none">
            <a:spAutoFit/>
          </a:bodyPr>
          <a:lstStyle/>
          <a:p>
            <a:pPr>
              <a:defRPr sz="850">
                <a:solidFill>
                  <a:srgbClr val="FFFFFF"/>
                </a:solidFill>
                <a:latin typeface="Aptos"/>
              </a:defRPr>
            </a:pPr>
            <a:r>
              <a:t>StudyForge AI  |  Foundations of Artificial Intelligence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TotalTime>
  <Words>868</Words>
  <Application>Microsoft Office PowerPoint</Application>
  <PresentationFormat>Widescreen</PresentationFormat>
  <Paragraphs>81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jathi</dc:creator>
  <cp:keywords/>
  <dc:description>generated using python-pptx</dc:description>
  <cp:lastModifiedBy>jathinch2006@outlook.com</cp:lastModifiedBy>
  <cp:revision>2</cp:revision>
  <dcterms:created xsi:type="dcterms:W3CDTF">2013-01-27T09:14:16Z</dcterms:created>
  <dcterms:modified xsi:type="dcterms:W3CDTF">2026-10-29T11:43:25Z</dcterms:modified>
  <cp:category/>
</cp:coreProperties>
</file>